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37"/>
  </p:notesMasterIdLst>
  <p:sldIdLst>
    <p:sldId id="278" r:id="rId4"/>
    <p:sldId id="259" r:id="rId5"/>
    <p:sldId id="264" r:id="rId6"/>
    <p:sldId id="308" r:id="rId7"/>
    <p:sldId id="309" r:id="rId8"/>
    <p:sldId id="310" r:id="rId9"/>
    <p:sldId id="311" r:id="rId10"/>
    <p:sldId id="312" r:id="rId11"/>
    <p:sldId id="270" r:id="rId12"/>
    <p:sldId id="302" r:id="rId13"/>
    <p:sldId id="313" r:id="rId14"/>
    <p:sldId id="298" r:id="rId15"/>
    <p:sldId id="326" r:id="rId16"/>
    <p:sldId id="299" r:id="rId17"/>
    <p:sldId id="272" r:id="rId18"/>
    <p:sldId id="314" r:id="rId19"/>
    <p:sldId id="317" r:id="rId20"/>
    <p:sldId id="320" r:id="rId21"/>
    <p:sldId id="321" r:id="rId22"/>
    <p:sldId id="316" r:id="rId23"/>
    <p:sldId id="319" r:id="rId24"/>
    <p:sldId id="322" r:id="rId25"/>
    <p:sldId id="318" r:id="rId26"/>
    <p:sldId id="315" r:id="rId27"/>
    <p:sldId id="325" r:id="rId28"/>
    <p:sldId id="327" r:id="rId29"/>
    <p:sldId id="301" r:id="rId30"/>
    <p:sldId id="305" r:id="rId31"/>
    <p:sldId id="276" r:id="rId32"/>
    <p:sldId id="293" r:id="rId33"/>
    <p:sldId id="294" r:id="rId34"/>
    <p:sldId id="274" r:id="rId35"/>
    <p:sldId id="307" r:id="rId36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A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F7F0C-C044-4219-8A13-C05BAAF55B63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5CE7B-F03F-45AE-A9E6-C3176489F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714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CE7B-F03F-45AE-A9E6-C3176489FC65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193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CE7B-F03F-45AE-A9E6-C3176489FC65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166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02-10-2025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3077" name="Rectangle 5"/>
          <p:cNvSpPr txBox="1"/>
          <p:nvPr/>
        </p:nvSpPr>
        <p:spPr>
          <a:xfrm>
            <a:off x="2026921" y="2523890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solidFill>
                  <a:srgbClr val="0070C0"/>
                </a:solidFill>
                <a:latin typeface="Arial Black" panose="020B0A04020102020204" pitchFamily="34" charset="0"/>
                <a:ea typeface="Aharoni" pitchFamily="2" charset="-79"/>
              </a:rPr>
              <a:t>An AI-Based Flood Risk Early Warning System </a:t>
            </a:r>
            <a:endParaRPr lang="en-US" altLang="en-US" sz="2400" b="1" i="1" u="sng" dirty="0">
              <a:solidFill>
                <a:srgbClr val="0070C0"/>
              </a:solidFill>
              <a:latin typeface="Castellar" panose="020A0402060406010301" pitchFamily="18" charset="0"/>
              <a:ea typeface="Arial" panose="020B0604020202020204" pitchFamily="34" charset="0"/>
            </a:endParaRPr>
          </a:p>
        </p:txBody>
      </p:sp>
      <p:sp>
        <p:nvSpPr>
          <p:cNvPr id="3079" name="Rectangle 5"/>
          <p:cNvSpPr txBox="1"/>
          <p:nvPr/>
        </p:nvSpPr>
        <p:spPr>
          <a:xfrm>
            <a:off x="1981200" y="2086610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On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81" name="Rectangle 8"/>
          <p:cNvSpPr/>
          <p:nvPr/>
        </p:nvSpPr>
        <p:spPr>
          <a:xfrm>
            <a:off x="0" y="17145"/>
            <a:ext cx="12012613" cy="1537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marL="365125" lvl="1" indent="-285750" algn="ctr" defTabSz="914400" eaLnBrk="1" hangingPunct="1">
              <a:spcBef>
                <a:spcPts val="500"/>
              </a:spcBef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altLang="en-US" sz="23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G H RAISONI COLLEGE OF ENGINEERING AND MANAGEMENT</a:t>
            </a:r>
            <a:r>
              <a:rPr lang="en-US" altLang="en-US" sz="2000" b="1" dirty="0">
                <a:solidFill>
                  <a:srgbClr val="05A724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en-US" sz="20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                                                                            </a:t>
            </a:r>
            <a:endParaRPr lang="en-US" altLang="en-US" sz="1400" b="1" dirty="0">
              <a:solidFill>
                <a:srgbClr val="AB0000"/>
              </a:solidFill>
              <a:latin typeface="Times New Roman" panose="02020603050405020304" pitchFamily="18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1400" dirty="0">
                <a:latin typeface="Calibri" panose="020F0502020204030204" pitchFamily="34" charset="0"/>
              </a:rPr>
              <a:t>(Approved by AICTE, New Delhi and Recognized by DTE, Maharashtra) 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   An Autonomous Institute </a:t>
            </a:r>
            <a:r>
              <a:rPr lang="en-US" sz="1400" dirty="0">
                <a:latin typeface="Calibri" panose="020F0502020204030204" pitchFamily="34" charset="0"/>
              </a:rPr>
              <a:t>Affiliated to Rashtrasant Tukadoji Maharaj Nagpur University, Nagpur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Accredited by NAAC with A+ Grade</a:t>
            </a: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2000" b="1" dirty="0">
                <a:latin typeface="Times New Roman" panose="02020603050405020304" pitchFamily="18" charset="0"/>
              </a:rPr>
              <a:t>Department of Computer Science and Engineering</a:t>
            </a:r>
            <a:endParaRPr lang="en-US" altLang="en-US" sz="2000" dirty="0"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13" name="Picture 12" descr="C:\Users\Roshan_Dir_SP\AppData\Local\Packages\Microsoft.Windows.Photos_8wekyb3d8bbwe\TempState\ShareServiceTempFolder\GHRCEM Nagpur.jpe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51"/>
            <a:ext cx="2331720" cy="150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521" y="47151"/>
            <a:ext cx="1874520" cy="90186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8"/>
          <p:cNvSpPr txBox="1"/>
          <p:nvPr/>
        </p:nvSpPr>
        <p:spPr>
          <a:xfrm>
            <a:off x="1567656" y="1682750"/>
            <a:ext cx="9056688" cy="4247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SimSun" panose="02010600030101010101" pitchFamily="2" charset="-122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Project</a:t>
            </a:r>
            <a:r>
              <a:rPr 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 Quality Assurance Initiative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  20</a:t>
            </a:r>
            <a:r>
              <a:rPr 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25-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2</a:t>
            </a:r>
            <a:r>
              <a:rPr 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6</a:t>
            </a:r>
            <a:r>
              <a:rPr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006DF-3BAC-97AC-2498-41CE4132ABF4}"/>
              </a:ext>
            </a:extLst>
          </p:cNvPr>
          <p:cNvSpPr txBox="1"/>
          <p:nvPr/>
        </p:nvSpPr>
        <p:spPr>
          <a:xfrm>
            <a:off x="2528785" y="2928468"/>
            <a:ext cx="7225871" cy="379488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74320" indent="-274320" algn="ctr">
              <a:spcBef>
                <a:spcPct val="20000"/>
              </a:spcBef>
              <a:spcAft>
                <a:spcPts val="0"/>
              </a:spcAft>
            </a:pPr>
            <a:r>
              <a:rPr lang="en-US" sz="2100" b="1" u="sng" dirty="0">
                <a:latin typeface="Times New Roman"/>
                <a:cs typeface="Times New Roman"/>
              </a:rPr>
              <a:t>Guide:</a:t>
            </a:r>
            <a:r>
              <a:rPr lang="en-US" sz="2100" b="1" dirty="0">
                <a:latin typeface="Times New Roman"/>
                <a:cs typeface="Times New Roman"/>
              </a:rPr>
              <a:t> </a:t>
            </a:r>
            <a:endParaRPr lang="en-US" sz="2100" dirty="0">
              <a:latin typeface="Times New Roman"/>
              <a:cs typeface="Times New Roman"/>
            </a:endParaRPr>
          </a:p>
          <a:p>
            <a:pPr marL="274320" indent="-274320" algn="ctr">
              <a:spcBef>
                <a:spcPct val="20000"/>
              </a:spcBef>
              <a:spcAft>
                <a:spcPts val="0"/>
              </a:spcAft>
            </a:pPr>
            <a:r>
              <a:rPr lang="en-US" sz="2100" b="1" dirty="0">
                <a:latin typeface="Times New Roman"/>
                <a:cs typeface="Times New Roman"/>
              </a:rPr>
              <a:t>   </a:t>
            </a:r>
            <a:r>
              <a:rPr lang="en-US" sz="2100" dirty="0">
                <a:latin typeface="Times New Roman"/>
                <a:cs typeface="Times New Roman"/>
              </a:rPr>
              <a:t>Antara Bhattacharya</a:t>
            </a:r>
            <a:r>
              <a:rPr lang="en-US" sz="2100" b="1" dirty="0">
                <a:latin typeface="Times New Roman"/>
                <a:cs typeface="Times New Roman"/>
              </a:rPr>
              <a:t> </a:t>
            </a:r>
            <a:endParaRPr lang="en-US" sz="2100" dirty="0">
              <a:latin typeface="Times New Roman"/>
              <a:cs typeface="Times New Roman"/>
            </a:endParaRPr>
          </a:p>
          <a:p>
            <a:pPr marL="274320" indent="-274320" algn="ctr">
              <a:spcBef>
                <a:spcPct val="20000"/>
              </a:spcBef>
              <a:spcAft>
                <a:spcPts val="0"/>
              </a:spcAft>
            </a:pPr>
            <a:r>
              <a:rPr lang="en-US" sz="2100" dirty="0">
                <a:latin typeface="Times New Roman"/>
                <a:cs typeface="Times New Roman"/>
              </a:rPr>
              <a:t> Assistant Professor</a:t>
            </a:r>
            <a:r>
              <a:rPr lang="en-US" sz="2100" b="1" dirty="0">
                <a:latin typeface="Times New Roman"/>
                <a:cs typeface="Times New Roman"/>
              </a:rPr>
              <a:t> </a:t>
            </a:r>
          </a:p>
          <a:p>
            <a:pPr marL="274320" indent="-274320" algn="ctr">
              <a:spcBef>
                <a:spcPct val="20000"/>
              </a:spcBef>
              <a:spcAft>
                <a:spcPts val="0"/>
              </a:spcAft>
            </a:pPr>
            <a:endParaRPr lang="en-US" sz="2100" dirty="0">
              <a:latin typeface="Times New Roman"/>
              <a:cs typeface="Times New Roman"/>
            </a:endParaRPr>
          </a:p>
          <a:p>
            <a:pPr algn="ctr">
              <a:spcBef>
                <a:spcPct val="20000"/>
              </a:spcBef>
              <a:spcAft>
                <a:spcPts val="0"/>
              </a:spcAft>
            </a:pPr>
            <a:r>
              <a:rPr lang="en-US" sz="2100" b="1" u="sng" dirty="0">
                <a:latin typeface="Times New Roman"/>
                <a:cs typeface="Times New Roman"/>
              </a:rPr>
              <a:t>Name of </a:t>
            </a:r>
            <a:r>
              <a:rPr lang="en-US" sz="2100" b="1" u="sng" dirty="0" err="1">
                <a:latin typeface="Times New Roman"/>
                <a:cs typeface="Times New Roman"/>
              </a:rPr>
              <a:t>Projectees</a:t>
            </a:r>
            <a:endParaRPr lang="en-US" sz="2100" dirty="0">
              <a:latin typeface="Times New Roman"/>
              <a:cs typeface="Times New Roman"/>
            </a:endParaRPr>
          </a:p>
          <a:p>
            <a:pPr algn="ctr">
              <a:spcBef>
                <a:spcPct val="20000"/>
              </a:spcBef>
              <a:spcAft>
                <a:spcPts val="0"/>
              </a:spcAft>
            </a:pPr>
            <a:endParaRPr lang="en-US" sz="2100" dirty="0">
              <a:latin typeface="Times New Roman"/>
              <a:cs typeface="Times New Roman"/>
            </a:endParaRPr>
          </a:p>
          <a:p>
            <a:pPr marL="274320" indent="-274320" algn="ctr">
              <a:spcBef>
                <a:spcPct val="20000"/>
              </a:spcBef>
              <a:spcAft>
                <a:spcPts val="0"/>
              </a:spcAft>
            </a:pPr>
            <a:r>
              <a:rPr lang="en-US" sz="2100" b="1" dirty="0">
                <a:latin typeface="Times New Roman"/>
                <a:cs typeface="Times New Roman"/>
              </a:rPr>
              <a:t>Adil Khan   Alfiyanaj  Qureshi  Akash </a:t>
            </a:r>
            <a:r>
              <a:rPr lang="en-US" sz="2100" b="1" dirty="0" err="1">
                <a:latin typeface="Times New Roman"/>
                <a:cs typeface="Times New Roman"/>
              </a:rPr>
              <a:t>Keote</a:t>
            </a:r>
            <a:endParaRPr lang="en-US" sz="2100" dirty="0">
              <a:latin typeface="Times New Roman"/>
              <a:cs typeface="Times New Roman"/>
            </a:endParaRPr>
          </a:p>
          <a:p>
            <a:pPr marL="274320" indent="-274320" algn="ctr">
              <a:spcBef>
                <a:spcPct val="20000"/>
              </a:spcBef>
              <a:spcAft>
                <a:spcPts val="0"/>
              </a:spcAft>
            </a:pPr>
            <a:r>
              <a:rPr lang="en-US" sz="2100" b="1" dirty="0">
                <a:latin typeface="Times New Roman"/>
                <a:cs typeface="Times New Roman"/>
              </a:rPr>
              <a:t>Amey </a:t>
            </a:r>
            <a:r>
              <a:rPr lang="en-US" sz="2100" b="1" dirty="0" err="1">
                <a:latin typeface="Times New Roman"/>
                <a:cs typeface="Times New Roman"/>
              </a:rPr>
              <a:t>Bhiogade</a:t>
            </a:r>
            <a:r>
              <a:rPr lang="en-US" sz="2100" b="1" dirty="0">
                <a:latin typeface="Times New Roman"/>
                <a:cs typeface="Times New Roman"/>
              </a:rPr>
              <a:t>   Anshika Arya</a:t>
            </a:r>
            <a:endParaRPr lang="en-US" sz="2100" dirty="0">
              <a:latin typeface="Times New Roman"/>
              <a:cs typeface="Times New Roman"/>
            </a:endParaRPr>
          </a:p>
          <a:p>
            <a:pPr marL="274320" indent="-274320" algn="ctr">
              <a:spcBef>
                <a:spcPct val="20000"/>
              </a:spcBef>
              <a:spcAft>
                <a:spcPts val="0"/>
              </a:spcAft>
            </a:pPr>
            <a:r>
              <a:rPr lang="en-US" sz="2100" b="1" dirty="0">
                <a:latin typeface="Times New Roman"/>
                <a:cs typeface="Times New Roman"/>
              </a:rPr>
              <a:t>Session 2025-2026</a:t>
            </a:r>
            <a:endParaRPr lang="en-US" sz="2100" dirty="0">
              <a:latin typeface="Times New Roman"/>
              <a:cs typeface="Times New Roman"/>
            </a:endParaRPr>
          </a:p>
          <a:p>
            <a:pPr algn="l"/>
            <a:endParaRPr lang="en-US" dirty="0"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0" name="Content Placeholder 2"/>
          <p:cNvSpPr txBox="1"/>
          <p:nvPr/>
        </p:nvSpPr>
        <p:spPr bwMode="auto">
          <a:xfrm>
            <a:off x="428625" y="677863"/>
            <a:ext cx="10445750" cy="5072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Survey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Problem Statement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Project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Methodology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Implementation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Work done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Innovative work (If any)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Results &amp; Discussion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 &amp; Future Scope 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Publication / Presentation / Project Competition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Cost Estimation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5122" name="TextBox 1"/>
          <p:cNvSpPr txBox="1"/>
          <p:nvPr/>
        </p:nvSpPr>
        <p:spPr>
          <a:xfrm>
            <a:off x="696912" y="1983587"/>
            <a:ext cx="10168255" cy="30027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faces severe flooding almost every monsoon, causing loss of life, property damage, and economic setbacks.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city’s outdated drainage system is unable to handle today’s intense monsoon rainfall.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flood management is reactive, relying on static maps and post-disaster relief.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critical need for an integrated system combining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prediction, mapping, evacuation routing, and automated alerts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flood resilience.</a:t>
            </a:r>
            <a:endParaRPr lang="en-US" sz="1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Here, our project tackles this important problem by creating an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predictive early warning system.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This system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give timely and precise flood risk alerts.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help lessen the disaster's impact and improve emergency planning and response</a:t>
            </a:r>
            <a:r>
              <a:rPr lang="en-US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1"/>
          <p:cNvSpPr txBox="1"/>
          <p:nvPr/>
        </p:nvSpPr>
        <p:spPr bwMode="auto">
          <a:xfrm>
            <a:off x="0" y="-182563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039444"/>
              </p:ext>
            </p:extLst>
          </p:nvPr>
        </p:nvGraphicFramePr>
        <p:xfrm>
          <a:off x="0" y="639435"/>
          <a:ext cx="12191999" cy="595551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410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Sr. No.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Paper</a:t>
                      </a:r>
                      <a:r>
                        <a:rPr lang="en-US" sz="1800" baseline="0"/>
                        <a:t> Title and its Author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Details of Publication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Findings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0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 Prediction Using AI – Western Maharashtra Case Study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Mayuresh</a:t>
                      </a: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A. </a:t>
                      </a:r>
                      <a:r>
                        <a:rPr lang="en-US" sz="16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Patil</a:t>
                      </a: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Dr. Anil R. </a:t>
                      </a:r>
                      <a:r>
                        <a:rPr lang="en-US" sz="16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Conference Paper, Feb 2025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Walchand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College of Engineering,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Sangli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Uses real-time hydrological data for localized prediction.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Accuracy not quantified.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LSTM, CNN, real-time sensors.</a:t>
                      </a: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0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GeoNet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Deep Learning for Flood Likelihood Monitoring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Ms. Anjali P. </a:t>
                      </a:r>
                      <a:r>
                        <a:rPr lang="en-IN" sz="16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Kadam</a:t>
                      </a:r>
                      <a:r>
                        <a:rPr lang="en-I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</a:t>
                      </a:r>
                      <a:r>
                        <a:rPr lang="en-I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Prakash </a:t>
                      </a:r>
                      <a:r>
                        <a:rPr lang="en-IN" sz="16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Devale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Intelligent System And Application In Engineering, Vol. 12(23s), 2024</a:t>
                      </a:r>
                      <a:br>
                        <a:rPr lang="nl-N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BVDU COE, Pune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High-performing deep learning model.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Based on only 1-year data from Kolhapur.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GeoNet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(custom DL), RNN.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85%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9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798463"/>
              </p:ext>
            </p:extLst>
          </p:nvPr>
        </p:nvGraphicFramePr>
        <p:xfrm>
          <a:off x="0" y="639763"/>
          <a:ext cx="12191999" cy="53151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3776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Sr. No.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Paper</a:t>
                      </a:r>
                      <a:r>
                        <a:rPr lang="en-US" sz="1800" baseline="0"/>
                        <a:t> Title and its Author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Details of Publication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Findings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740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 hazard analysis in Mumbai using geospatial and multi-criteria decision-making techniques </a:t>
                      </a:r>
                    </a:p>
                    <a:p>
                      <a:pPr algn="l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Parshottambhai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Solanki,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Vijendra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Kumar, Kul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Vaibhav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Sharma, Arpan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Deshmukh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Deepak Kumar Tiwari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Water and Climate Change Vol 15 No 5, 2024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Advantage:</a:t>
                      </a: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GIS-based flood susceptibility mapping using real parameters.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Uses Static data, lacks live input.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Method:</a:t>
                      </a: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AHP + GIS (ArcGIS layers: NDVI, slope, etc.).</a:t>
                      </a: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3944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Sensing and GIS Assessment of Flood Zones: A Case Study of the </a:t>
                      </a: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Bhima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River Basin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Mahesh. S.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Waghmare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Shrishail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S.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Shahapure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Intelligent System And Application In Engineering</a:t>
                      </a:r>
                      <a:r>
                        <a:rPr lang="fr-F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Vol. 7, Article 3627, 2023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Good regional flood susceptibility analysis.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Static risk map, not a predictive model.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Weighted overlay in ArcGIS.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61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444697"/>
              </p:ext>
            </p:extLst>
          </p:nvPr>
        </p:nvGraphicFramePr>
        <p:xfrm>
          <a:off x="0" y="639764"/>
          <a:ext cx="12191999" cy="58729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92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Sr. No.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Paper</a:t>
                      </a:r>
                      <a:r>
                        <a:rPr lang="en-US" sz="1800" baseline="0"/>
                        <a:t> Title and its Author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Details of Publication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Findings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00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Assessing Of Flood Disaster Impact on Agriculture in Western Maharashtra Rivers </a:t>
                      </a:r>
                    </a:p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Amol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M.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Pawar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Advance and Applied Research</a:t>
                      </a:r>
                      <a:r>
                        <a:rPr lang="pt-BR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Vol.5 No.8, Mar–Apr 2024</a:t>
                      </a:r>
                      <a:br>
                        <a:rPr lang="pt-B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pt-B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Sangola Mahavidyalaya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Detailed GIS + remote sensing (RS) assessment of flood impact on agriculture and soil degradation in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Satara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district.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ML or AI-based flood prediction model; lacks real-time forecasting.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GIS, RS, GPS-based mapping, LULC analysis.</a:t>
                      </a: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64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246602"/>
              </p:ext>
            </p:extLst>
          </p:nvPr>
        </p:nvGraphicFramePr>
        <p:xfrm>
          <a:off x="0" y="639764"/>
          <a:ext cx="12191999" cy="58729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069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Sr. No.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Paper</a:t>
                      </a:r>
                      <a:r>
                        <a:rPr lang="en-US" sz="1800" baseline="0"/>
                        <a:t> Title and its Author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Details of Publication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Findings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88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Maharashtra River Basin’s Flood–Drought–Water Scarcity Nexus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Manisha </a:t>
                      </a:r>
                      <a:r>
                        <a:rPr lang="en-US" sz="16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Shinde-Pawar</a:t>
                      </a: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NEST Journal, Vol. 26 No. 5, 2024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Rajarambapu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Institute of Technology &amp;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Bharati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Vidyapeeth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University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In-depth analysis of water resilience, climate vulnerability, and urban planning in Maharashtra.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direct prediction model or AI algorithm implemented.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Policy review, stakeholder analysis, historical climate data, scenario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28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949943"/>
              </p:ext>
            </p:extLst>
          </p:nvPr>
        </p:nvGraphicFramePr>
        <p:xfrm>
          <a:off x="0" y="639764"/>
          <a:ext cx="12191999" cy="58729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6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9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069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Sr. No.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Paper</a:t>
                      </a:r>
                      <a:r>
                        <a:rPr lang="en-US" sz="1800" baseline="0"/>
                        <a:t> Title and its Author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Details of Publication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Findings</a:t>
                      </a:r>
                      <a:endParaRPr lang="en-US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88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Flood Susceptibility Accuracy Assessment of </a:t>
                      </a:r>
                      <a:r>
                        <a:rPr lang="en-US" sz="16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Panchganga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River Basin (PRB), Kolhapur, Maharashtra (India) using Frequency Ratio and Weight of Evidence Model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Prashant N. </a:t>
                      </a:r>
                      <a:r>
                        <a:rPr lang="en-IN" sz="16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Pusdekar</a:t>
                      </a: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Sanjay V. </a:t>
                      </a:r>
                      <a:r>
                        <a:rPr lang="en-IN" sz="16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Dudul</a:t>
                      </a:r>
                      <a:endParaRPr lang="en-IN" sz="16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International Journal of Microsystems and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Vol. 1, Issue 5, pp. 313 - 319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Advantage:</a:t>
                      </a:r>
                      <a:r>
                        <a:rPr lang="en-IN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widely accessible spatial datasets and models (FR and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that are easy to apply in low-resource settings.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  <a:r>
                        <a:rPr lang="en-IN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prediction, no integration of dynamic data, and no evacuation route system.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Methods:</a:t>
                      </a:r>
                      <a:r>
                        <a:rPr lang="en-IN" sz="16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Ratio (FR), Weight of Evidence (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GIS-based raster analysis, ROC-AUC evaluation.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 → 88.78% (success), 89.27% (prediction);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85.84% (success), 87.34% (prediction) via AUC metrics.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6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0" y="622161"/>
            <a:ext cx="8229601" cy="60631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Identified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faces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flooding almost every monsoon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heavy rainfall, coastal geography, and an outdated drainage system.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flood alert system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exists to warn residents or guide quick response.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an integrated platform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evacuation routes, nearby shelters, hospitals, and essential stores worsens the crisis.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rely 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does not show flooded/blocked roads or disaster-specific information.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confusion, transport disruption, property damage, and loss of lives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floods.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Justification for Solution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flood management in Mumbai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focusing on post-disaster relief rather than prevention.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use rainfall, drainage, and satellite data 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high, medium, and low-risk flood zones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GIS-based visualization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map risk-prone areas and suggest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safe, dynamic evacuation routes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AI-integrated platform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deliver: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flood risk alerts.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Risk-aware evacuation routing.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Nearby shelters, hospitals, pharmacy, etc.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would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public safety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 disaster response teams,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Mumbai’s urban flood resilience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" name="drawi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310" y="2194151"/>
            <a:ext cx="4111690" cy="2764180"/>
          </a:xfrm>
          <a:prstGeom prst="rect">
            <a:avLst/>
          </a:prstGeom>
          <a:ln w="9525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9218" name="TextBox 7"/>
          <p:cNvSpPr txBox="1"/>
          <p:nvPr/>
        </p:nvSpPr>
        <p:spPr>
          <a:xfrm>
            <a:off x="1139825" y="2037358"/>
            <a:ext cx="9253855" cy="307776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Arial"/>
              </a:rPr>
              <a:t>To study ward-level flood susceptibility and predict flood risk categories (low, medium, high) using a Voting Ensemble model combining Random Forest and </a:t>
            </a:r>
            <a:r>
              <a:rPr lang="en-US" sz="1600" dirty="0" err="1">
                <a:latin typeface="Times New Roman"/>
                <a:cs typeface="Arial"/>
              </a:rPr>
              <a:t>XGBoost</a:t>
            </a:r>
            <a:r>
              <a:rPr lang="en-US" sz="1600" dirty="0">
                <a:latin typeface="Times New Roman"/>
                <a:cs typeface="Arial"/>
              </a:rPr>
              <a:t>.</a:t>
            </a:r>
            <a:endParaRPr lang="en-US" sz="1600" dirty="0">
              <a:latin typeface="Times New Roman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Arial"/>
              </a:rPr>
              <a:t>To design probabilistic GIS-based flood risk maps that support decision-making for disaster management authorities.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Arial"/>
              </a:rPr>
              <a:t>To implement risk-aware evacuation routing using modified </a:t>
            </a:r>
            <a:r>
              <a:rPr lang="en-US" sz="1600" dirty="0" err="1">
                <a:latin typeface="Times New Roman"/>
                <a:cs typeface="Arial"/>
              </a:rPr>
              <a:t>Dijkstra</a:t>
            </a:r>
            <a:r>
              <a:rPr lang="en-US" sz="1600" dirty="0">
                <a:latin typeface="Times New Roman"/>
                <a:cs typeface="Arial"/>
              </a:rPr>
              <a:t> and A* algorithms, minimizing exposure to flood-prone areas.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Arial"/>
              </a:rPr>
              <a:t>To develop and test an automated alert dissemination system for real-time flood warnings and evacuation routes via SMS/Email notifications.</a:t>
            </a:r>
            <a:endParaRPr lang="en-US" sz="1600" dirty="0">
              <a:latin typeface="Times New Roman"/>
              <a:cs typeface="Times New Roman"/>
            </a:endParaRPr>
          </a:p>
          <a:p>
            <a:pPr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24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9D44-681D-E93B-63D0-A8D0B4D2B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>
            <a:extLst>
              <a:ext uri="{FF2B5EF4-FFF2-40B4-BE49-F238E27FC236}">
                <a16:creationId xmlns:a16="http://schemas.microsoft.com/office/drawing/2014/main" id="{4146C190-A320-72A6-B859-71685EC8E707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FBE227D-07D5-A6BE-6BAC-5B0672A55EB7}"/>
              </a:ext>
            </a:extLst>
          </p:cNvPr>
          <p:cNvSpPr txBox="1"/>
          <p:nvPr/>
        </p:nvSpPr>
        <p:spPr bwMode="auto">
          <a:xfrm>
            <a:off x="0" y="0"/>
            <a:ext cx="12192000" cy="6408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160C94-993D-E376-AFAF-DC613B0D72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630156"/>
            <a:ext cx="12192000" cy="3404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312A78-5036-50A1-DF5D-8CB0D0560B77}"/>
              </a:ext>
            </a:extLst>
          </p:cNvPr>
          <p:cNvSpPr txBox="1"/>
          <p:nvPr/>
        </p:nvSpPr>
        <p:spPr>
          <a:xfrm>
            <a:off x="3531090" y="6322503"/>
            <a:ext cx="5129820" cy="384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00" b="1" dirty="0">
                <a:latin typeface="Times New Roman"/>
                <a:cs typeface="Arial"/>
              </a:rPr>
              <a:t>Fig 1:-  Flood Management System Overview </a:t>
            </a:r>
            <a:endParaRPr lang="en-US" sz="1900" b="1" dirty="0">
              <a:latin typeface="Times New Roman"/>
              <a:cs typeface="Times New Roman"/>
            </a:endParaRPr>
          </a:p>
        </p:txBody>
      </p:sp>
      <p:pic>
        <p:nvPicPr>
          <p:cNvPr id="8" name="Content Placeholder 7" descr="A screenshot of a phone&#10;&#10;AI-generated content may be incorrect.">
            <a:extLst>
              <a:ext uri="{FF2B5EF4-FFF2-40B4-BE49-F238E27FC236}">
                <a16:creationId xmlns:a16="http://schemas.microsoft.com/office/drawing/2014/main" id="{FC322EAD-B219-8924-4A83-F9A14112E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2830" y="657203"/>
            <a:ext cx="2790730" cy="566088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 8" descr="A screen shot of a phone&#10;&#10;AI-generated content may be incorrect.">
            <a:extLst>
              <a:ext uri="{FF2B5EF4-FFF2-40B4-BE49-F238E27FC236}">
                <a16:creationId xmlns:a16="http://schemas.microsoft.com/office/drawing/2014/main" id="{F1F99CA3-014B-C637-0D4F-6E032C1B6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31" y="1632342"/>
            <a:ext cx="1699684" cy="3182409"/>
          </a:xfrm>
          <a:prstGeom prst="rect">
            <a:avLst/>
          </a:prstGeom>
        </p:spPr>
      </p:pic>
      <p:pic>
        <p:nvPicPr>
          <p:cNvPr id="10" name="Picture 9" descr="A close-up of a sign&#10;&#10;AI-generated content may be incorrect.">
            <a:extLst>
              <a:ext uri="{FF2B5EF4-FFF2-40B4-BE49-F238E27FC236}">
                <a16:creationId xmlns:a16="http://schemas.microsoft.com/office/drawing/2014/main" id="{7B88EB6B-6B23-58BD-B70A-0A54AA91A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054" y="656204"/>
            <a:ext cx="1476375" cy="2847977"/>
          </a:xfrm>
          <a:prstGeom prst="rect">
            <a:avLst/>
          </a:prstGeom>
        </p:spPr>
      </p:pic>
      <p:pic>
        <p:nvPicPr>
          <p:cNvPr id="11" name="Picture 10" descr="A screen shot of a phone&#10;&#10;AI-generated content may be incorrect.">
            <a:extLst>
              <a:ext uri="{FF2B5EF4-FFF2-40B4-BE49-F238E27FC236}">
                <a16:creationId xmlns:a16="http://schemas.microsoft.com/office/drawing/2014/main" id="{C56958E4-0A44-5B0B-BC19-F99AFEA9B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006" y="3529578"/>
            <a:ext cx="1592792" cy="2846918"/>
          </a:xfrm>
          <a:prstGeom prst="rect">
            <a:avLst/>
          </a:prstGeom>
        </p:spPr>
      </p:pic>
      <p:pic>
        <p:nvPicPr>
          <p:cNvPr id="12" name="Picture 11" descr="A white sign with black text&#10;&#10;AI-generated content may be incorrect.">
            <a:extLst>
              <a:ext uri="{FF2B5EF4-FFF2-40B4-BE49-F238E27FC236}">
                <a16:creationId xmlns:a16="http://schemas.microsoft.com/office/drawing/2014/main" id="{498EA4EF-1211-2786-59D2-6F6C64612F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61" y="660515"/>
            <a:ext cx="1704327" cy="566208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9F60EB-A31A-8367-BB21-82BEF0A532D3}"/>
              </a:ext>
            </a:extLst>
          </p:cNvPr>
          <p:cNvCxnSpPr/>
          <p:nvPr/>
        </p:nvCxnSpPr>
        <p:spPr>
          <a:xfrm flipV="1">
            <a:off x="3054174" y="3136666"/>
            <a:ext cx="883833" cy="918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46324B-A9DD-85ED-7A10-B7B1117257EE}"/>
              </a:ext>
            </a:extLst>
          </p:cNvPr>
          <p:cNvCxnSpPr/>
          <p:nvPr/>
        </p:nvCxnSpPr>
        <p:spPr>
          <a:xfrm>
            <a:off x="6339520" y="2024940"/>
            <a:ext cx="13229" cy="3030793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D2CB40-00F8-40E6-0DBD-2B5E7D4C41F5}"/>
              </a:ext>
            </a:extLst>
          </p:cNvPr>
          <p:cNvCxnSpPr/>
          <p:nvPr/>
        </p:nvCxnSpPr>
        <p:spPr>
          <a:xfrm>
            <a:off x="6339520" y="2038176"/>
            <a:ext cx="608805" cy="13234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94C652-FEB9-385E-A892-E705EEEC3095}"/>
              </a:ext>
            </a:extLst>
          </p:cNvPr>
          <p:cNvCxnSpPr>
            <a:cxnSpLocks/>
          </p:cNvCxnSpPr>
          <p:nvPr/>
        </p:nvCxnSpPr>
        <p:spPr>
          <a:xfrm flipV="1">
            <a:off x="6342598" y="5032298"/>
            <a:ext cx="734408" cy="3513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D2B3E3-0FD4-46E0-B498-FC28732A3F93}"/>
              </a:ext>
            </a:extLst>
          </p:cNvPr>
          <p:cNvCxnSpPr>
            <a:cxnSpLocks/>
          </p:cNvCxnSpPr>
          <p:nvPr/>
        </p:nvCxnSpPr>
        <p:spPr>
          <a:xfrm flipV="1">
            <a:off x="5633250" y="3396248"/>
            <a:ext cx="707987" cy="807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5FC748-9638-8D2E-4C17-F5E5E90E8C72}"/>
              </a:ext>
            </a:extLst>
          </p:cNvPr>
          <p:cNvCxnSpPr>
            <a:cxnSpLocks/>
          </p:cNvCxnSpPr>
          <p:nvPr/>
        </p:nvCxnSpPr>
        <p:spPr>
          <a:xfrm>
            <a:off x="9521183" y="2082720"/>
            <a:ext cx="23048" cy="2912192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922BCB-ECE4-5308-BEDE-790668DE14F2}"/>
              </a:ext>
            </a:extLst>
          </p:cNvPr>
          <p:cNvCxnSpPr>
            <a:cxnSpLocks/>
          </p:cNvCxnSpPr>
          <p:nvPr/>
        </p:nvCxnSpPr>
        <p:spPr>
          <a:xfrm flipV="1">
            <a:off x="9516691" y="3412909"/>
            <a:ext cx="755190" cy="3513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9F3256-7E48-301C-561B-B5D5EAF00845}"/>
              </a:ext>
            </a:extLst>
          </p:cNvPr>
          <p:cNvCxnSpPr>
            <a:cxnSpLocks/>
          </p:cNvCxnSpPr>
          <p:nvPr/>
        </p:nvCxnSpPr>
        <p:spPr>
          <a:xfrm flipV="1">
            <a:off x="8556255" y="2080193"/>
            <a:ext cx="936586" cy="807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FFDAB79-812D-338C-3CF9-427834CFFF47}"/>
              </a:ext>
            </a:extLst>
          </p:cNvPr>
          <p:cNvCxnSpPr>
            <a:cxnSpLocks/>
          </p:cNvCxnSpPr>
          <p:nvPr/>
        </p:nvCxnSpPr>
        <p:spPr>
          <a:xfrm flipV="1">
            <a:off x="8730958" y="5011114"/>
            <a:ext cx="798041" cy="805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09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3C813B96-E922-A0D9-091C-5539A36AD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" y="762015"/>
            <a:ext cx="11526520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Collected rainfall, hydrology, elevation, land use, and population data (IMD, ISRO, OSM, Census).Finalized 15 attributes for flood risk analysis.</a:t>
            </a: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irrelevant features and handled missing values. Encoded categorical features and normalized numerical ones.</a:t>
            </a: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a Voting Ensemble (Random Forest +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to classify risk levels (Low/Medium/High). Evaluated with Accuracy, Precision, Recall, and F1-score.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hangingPunct="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Mapping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 flood risk zones on ward-level maps with color codes (Green, Yellow, Red). Built an interactive GIS dashboard for real-time visualization.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hangingPunct="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Evacuation Routing</a:t>
            </a: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Modeled Mumbai’s road network as a weighted graph with risk-based penalties. Applied modified Dijkstra and A* algorithms for safest routes.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hangingPunct="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</a:t>
            </a: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Twilio API to send SMS/Email alerts with risk status.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/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85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841B-5AF1-9201-9BA8-8DEDA12C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>
            <a:extLst>
              <a:ext uri="{FF2B5EF4-FFF2-40B4-BE49-F238E27FC236}">
                <a16:creationId xmlns:a16="http://schemas.microsoft.com/office/drawing/2014/main" id="{A7976DCE-BBF3-6119-ED42-D8AA86145701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7019B2F-0B9C-217A-3666-B2879018E456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Work  ( if any)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CBC616-35A6-FC4F-556E-6481F192D9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36EDAF-AB66-DD4C-393A-62E37436806A}"/>
              </a:ext>
            </a:extLst>
          </p:cNvPr>
          <p:cNvSpPr txBox="1"/>
          <p:nvPr/>
        </p:nvSpPr>
        <p:spPr>
          <a:xfrm>
            <a:off x="1098025" y="2052747"/>
            <a:ext cx="9995950" cy="30469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lvl="0" indent="-342900" algn="just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Framework: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AI prediction, GIS mapping, evacuation routing, and real-time alerts in a single system. </a:t>
            </a:r>
          </a:p>
          <a:p>
            <a:pPr marL="342900" lvl="0" indent="-342900" algn="just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Ward-Level Precision: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Flood susceptibility studied at Mumbai ward level, ensuring localized and actionable risk categorization (Low/Medium/High).</a:t>
            </a:r>
          </a:p>
          <a:p>
            <a:pPr marL="342900" lvl="0" indent="-342900" algn="just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Risk-Aware Routing: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A* algorithms to minimize exposure to flood-prone roads during evacuation.</a:t>
            </a:r>
          </a:p>
          <a:p>
            <a:pPr marL="342900" lvl="0" indent="-342900" algn="just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Multi-Channel Alerts: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Dissemination of real-time flood warnings via SMS/Email, unlike current systems that lack proactive alerts.</a:t>
            </a:r>
          </a:p>
        </p:txBody>
      </p:sp>
    </p:spTree>
    <p:extLst>
      <p:ext uri="{BB962C8B-B14F-4D97-AF65-F5344CB8AC3E}">
        <p14:creationId xmlns:p14="http://schemas.microsoft.com/office/powerpoint/2010/main" val="3583504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00785" y="1288733"/>
            <a:ext cx="7159625" cy="70737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document&#10;&#10;AI-generated content may be incorrect.">
            <a:extLst>
              <a:ext uri="{FF2B5EF4-FFF2-40B4-BE49-F238E27FC236}">
                <a16:creationId xmlns:a16="http://schemas.microsoft.com/office/drawing/2014/main" id="{6C4C1CF9-4FD2-393E-5D89-7A8487827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55" y="875988"/>
            <a:ext cx="6087037" cy="50353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86F6DD-8C4F-DA0E-E8B5-C41D4F75C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182" y="875988"/>
            <a:ext cx="6094747" cy="50353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5802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C12340-1C66-7D13-9C0C-1E94761E3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6" y="664426"/>
            <a:ext cx="11450567" cy="54585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E86078-374B-1FE8-069A-92BC8F6AC900}"/>
              </a:ext>
            </a:extLst>
          </p:cNvPr>
          <p:cNvSpPr txBox="1"/>
          <p:nvPr/>
        </p:nvSpPr>
        <p:spPr>
          <a:xfrm>
            <a:off x="5633884" y="6158251"/>
            <a:ext cx="1858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D3C4-CE9E-6C98-9761-86043F54F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AB1125BA-8319-BA74-FA75-45BA7E61E4DE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EE2F113-4C51-759D-BD61-ACDEF00C8B31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4466B9-DBEF-ED0C-3416-E2151FEF26C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43D419-C092-1372-5530-9E012B113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51" y="655677"/>
            <a:ext cx="11764297" cy="53579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FAE807-07AE-1E1A-E2C5-97CF64F78EC7}"/>
              </a:ext>
            </a:extLst>
          </p:cNvPr>
          <p:cNvSpPr txBox="1"/>
          <p:nvPr/>
        </p:nvSpPr>
        <p:spPr>
          <a:xfrm>
            <a:off x="5633884" y="6158251"/>
            <a:ext cx="1858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</a:t>
            </a:r>
          </a:p>
        </p:txBody>
      </p:sp>
    </p:spTree>
    <p:extLst>
      <p:ext uri="{BB962C8B-B14F-4D97-AF65-F5344CB8AC3E}">
        <p14:creationId xmlns:p14="http://schemas.microsoft.com/office/powerpoint/2010/main" val="2709444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CD47-8D62-A242-5FBF-7F639E293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5C47AEFE-363E-B7CC-CAAF-9C1C05F55AC6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0F55AFA-CDD6-484F-226B-B723193CD09F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D811D6-6EF6-744C-E2D9-113DD0F914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E0613C-559D-FDDC-DAB1-2EB37434E296}"/>
              </a:ext>
            </a:extLst>
          </p:cNvPr>
          <p:cNvSpPr txBox="1"/>
          <p:nvPr/>
        </p:nvSpPr>
        <p:spPr>
          <a:xfrm>
            <a:off x="1033145" y="1196976"/>
            <a:ext cx="7159625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eaLnBrk="0" hangingPunct="0"/>
            <a:r>
              <a:rPr lang="en-US" dirty="0">
                <a:latin typeface="Times New Roman" panose="02020603050405020304" pitchFamily="18" charset="0"/>
              </a:rPr>
              <a:t>Result &amp; Discussion </a:t>
            </a:r>
            <a:r>
              <a:rPr lang="en-US" altLang="en-US" dirty="0">
                <a:latin typeface="Times New Roman" panose="02020603050405020304" pitchFamily="18" charset="0"/>
              </a:rPr>
              <a:t>of the project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4A9005-1F07-7B37-4E51-C23CF3149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92" y="655677"/>
            <a:ext cx="11793415" cy="53896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16CC91-0E2A-79B3-9D91-2DD5C83E0567}"/>
              </a:ext>
            </a:extLst>
          </p:cNvPr>
          <p:cNvSpPr txBox="1"/>
          <p:nvPr/>
        </p:nvSpPr>
        <p:spPr>
          <a:xfrm>
            <a:off x="5240594" y="6088465"/>
            <a:ext cx="1858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2044308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1DFA4-3111-052F-5302-6954B142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F66E415D-987D-36C7-EA1E-746E612C502E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E6F7F91-A739-FE40-0B3F-9FA3166EBFF1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71E4BA-CA63-38E1-AED8-F30482D8ADC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B4287-9464-D568-1A9E-4526D32897FF}"/>
              </a:ext>
            </a:extLst>
          </p:cNvPr>
          <p:cNvSpPr txBox="1"/>
          <p:nvPr/>
        </p:nvSpPr>
        <p:spPr>
          <a:xfrm>
            <a:off x="1033145" y="1196976"/>
            <a:ext cx="7159625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eaLnBrk="0" hangingPunct="0"/>
            <a:r>
              <a:rPr lang="en-US" dirty="0">
                <a:latin typeface="Times New Roman" panose="02020603050405020304" pitchFamily="18" charset="0"/>
              </a:rPr>
              <a:t>Result &amp; Discussion </a:t>
            </a:r>
            <a:r>
              <a:rPr lang="en-US" altLang="en-US" dirty="0">
                <a:latin typeface="Times New Roman" panose="02020603050405020304" pitchFamily="18" charset="0"/>
              </a:rPr>
              <a:t>of the project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FE1A22-6CAC-C69D-EC42-36EA7D7E983C}"/>
              </a:ext>
            </a:extLst>
          </p:cNvPr>
          <p:cNvSpPr txBox="1"/>
          <p:nvPr/>
        </p:nvSpPr>
        <p:spPr>
          <a:xfrm>
            <a:off x="4918628" y="6218236"/>
            <a:ext cx="3097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D39860-18A4-99EF-C312-7ED92357F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" t="1425" r="727"/>
          <a:stretch>
            <a:fillRect/>
          </a:stretch>
        </p:blipFill>
        <p:spPr>
          <a:xfrm>
            <a:off x="363793" y="751683"/>
            <a:ext cx="11434917" cy="543320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8299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B4D9-2FAD-4CCD-2DFF-11149236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B2A1BDFF-A75F-9647-683B-25B09A8406A4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E35D7A8-EB13-4A89-3238-11D9C6C71B93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4E50B4-58A1-52BA-C45F-D30CB792C2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6B93CB-E0CA-8617-E5D9-CF3EECBAA99F}"/>
              </a:ext>
            </a:extLst>
          </p:cNvPr>
          <p:cNvSpPr txBox="1"/>
          <p:nvPr/>
        </p:nvSpPr>
        <p:spPr>
          <a:xfrm>
            <a:off x="4916130" y="6174165"/>
            <a:ext cx="2558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2429B-BF8A-F2CF-7BC5-6B1EF99676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35" y="705029"/>
            <a:ext cx="11631561" cy="546913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8009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4CAE-849F-A557-96D9-E67DA38C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0EC16E33-8533-D989-3524-4F2E9BC37B21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EEB60A2-BA4B-3873-0CFF-C74AF389A254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D1039-A15C-035F-E856-57578B61DC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4E784B-DAE6-17DA-89C1-0752176EECB6}"/>
              </a:ext>
            </a:extLst>
          </p:cNvPr>
          <p:cNvSpPr txBox="1"/>
          <p:nvPr/>
        </p:nvSpPr>
        <p:spPr>
          <a:xfrm>
            <a:off x="4918628" y="6218236"/>
            <a:ext cx="3097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4.3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E4891C-0332-872F-ED3C-6556CCEE6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" t="1590" r="500"/>
          <a:stretch>
            <a:fillRect/>
          </a:stretch>
        </p:blipFill>
        <p:spPr>
          <a:xfrm>
            <a:off x="452283" y="751683"/>
            <a:ext cx="11287434" cy="538559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4560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72202-FBC4-0979-7D80-B9E7FBD4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FDDCDDDF-0F25-6CC5-EC77-B9649A93C0B2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17DFB0D-3177-8F1E-8771-4760A6ED6564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D099B0-1D8A-CF1A-7732-0943EE7CEE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99E54A-3A9F-4C8B-AB26-B14EE26B2A5B}"/>
              </a:ext>
            </a:extLst>
          </p:cNvPr>
          <p:cNvSpPr txBox="1"/>
          <p:nvPr/>
        </p:nvSpPr>
        <p:spPr>
          <a:xfrm>
            <a:off x="1033145" y="1196976"/>
            <a:ext cx="7159625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eaLnBrk="0" hangingPunct="0"/>
            <a:r>
              <a:rPr lang="en-US" dirty="0">
                <a:latin typeface="Times New Roman" panose="02020603050405020304" pitchFamily="18" charset="0"/>
              </a:rPr>
              <a:t>Result &amp; Discussion </a:t>
            </a:r>
            <a:r>
              <a:rPr lang="en-US" altLang="en-US" dirty="0">
                <a:latin typeface="Times New Roman" panose="02020603050405020304" pitchFamily="18" charset="0"/>
              </a:rPr>
              <a:t>of the project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80BE34-EF91-91B4-A50D-C8084DDA5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" t="764" r="665" b="6502"/>
          <a:stretch>
            <a:fillRect/>
          </a:stretch>
        </p:blipFill>
        <p:spPr>
          <a:xfrm>
            <a:off x="334297" y="639763"/>
            <a:ext cx="11523406" cy="55534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E6C5D7-DF6F-7A7B-AE1B-0DBEF59A2F71}"/>
              </a:ext>
            </a:extLst>
          </p:cNvPr>
          <p:cNvSpPr txBox="1"/>
          <p:nvPr/>
        </p:nvSpPr>
        <p:spPr>
          <a:xfrm>
            <a:off x="4918628" y="6218236"/>
            <a:ext cx="3097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5:Routes</a:t>
            </a:r>
          </a:p>
        </p:txBody>
      </p:sp>
    </p:spTree>
    <p:extLst>
      <p:ext uri="{BB962C8B-B14F-4D97-AF65-F5344CB8AC3E}">
        <p14:creationId xmlns:p14="http://schemas.microsoft.com/office/powerpoint/2010/main" val="207919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304C-1D10-C362-5D3C-4490FDA1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F1AA8806-88F5-B626-0757-06FC77EB884D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363B0B-A098-C7CF-CF07-F7BE8716E564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C8F2D8-579B-8046-3D06-0B6373DC1C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36F149-6645-F00E-0AEC-40BBBC3EE40E}"/>
              </a:ext>
            </a:extLst>
          </p:cNvPr>
          <p:cNvSpPr txBox="1"/>
          <p:nvPr/>
        </p:nvSpPr>
        <p:spPr>
          <a:xfrm>
            <a:off x="1033145" y="1196976"/>
            <a:ext cx="7159625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eaLnBrk="0" hangingPunct="0"/>
            <a:r>
              <a:rPr lang="en-US" dirty="0">
                <a:latin typeface="Times New Roman" panose="02020603050405020304" pitchFamily="18" charset="0"/>
              </a:rPr>
              <a:t>Result &amp; Discussion </a:t>
            </a:r>
            <a:r>
              <a:rPr lang="en-US" altLang="en-US" dirty="0">
                <a:latin typeface="Times New Roman" panose="02020603050405020304" pitchFamily="18" charset="0"/>
              </a:rPr>
              <a:t>of the project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1E0AAD-B7D9-30B2-3BE2-D80BC6715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" t="8941" r="592" b="5581"/>
          <a:stretch>
            <a:fillRect/>
          </a:stretch>
        </p:blipFill>
        <p:spPr>
          <a:xfrm>
            <a:off x="349045" y="639763"/>
            <a:ext cx="11493910" cy="56005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2A3910-0AB5-EE3E-A37D-895EBD915A60}"/>
              </a:ext>
            </a:extLst>
          </p:cNvPr>
          <p:cNvSpPr txBox="1"/>
          <p:nvPr/>
        </p:nvSpPr>
        <p:spPr>
          <a:xfrm>
            <a:off x="4918628" y="6218236"/>
            <a:ext cx="3097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6.2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Evacuation</a:t>
            </a:r>
            <a:r>
              <a:rPr lang="en-IN" sz="1600" dirty="0"/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</a:p>
        </p:txBody>
      </p:sp>
    </p:spTree>
    <p:extLst>
      <p:ext uri="{BB962C8B-B14F-4D97-AF65-F5344CB8AC3E}">
        <p14:creationId xmlns:p14="http://schemas.microsoft.com/office/powerpoint/2010/main" val="1112458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E3DF4-4031-8913-14C0-196F6FC58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8252A7BC-EB77-C563-3BA1-69D722DFEAE1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0FD5E9-23DF-834E-DD28-8825CB5EB303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A12993-20D2-2003-84A2-CB79FF676E3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A4785E-4578-5C2F-BD1A-A64B03223C03}"/>
              </a:ext>
            </a:extLst>
          </p:cNvPr>
          <p:cNvSpPr txBox="1"/>
          <p:nvPr/>
        </p:nvSpPr>
        <p:spPr>
          <a:xfrm>
            <a:off x="1033145" y="1196976"/>
            <a:ext cx="7159625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eaLnBrk="0" hangingPunct="0"/>
            <a:r>
              <a:rPr lang="en-US" dirty="0">
                <a:latin typeface="Times New Roman" panose="02020603050405020304" pitchFamily="18" charset="0"/>
              </a:rPr>
              <a:t>Result &amp; Discussion </a:t>
            </a:r>
            <a:r>
              <a:rPr lang="en-US" altLang="en-US" dirty="0">
                <a:latin typeface="Times New Roman" panose="02020603050405020304" pitchFamily="18" charset="0"/>
              </a:rPr>
              <a:t>of the project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7A226F-97B2-29B8-294E-ED93FE7C8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" t="9073" r="699" b="6208"/>
          <a:stretch>
            <a:fillRect/>
          </a:stretch>
        </p:blipFill>
        <p:spPr>
          <a:xfrm>
            <a:off x="284755" y="644110"/>
            <a:ext cx="11622489" cy="556977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63A0E4-54E7-1BB9-CB58-EB0990A09F9A}"/>
              </a:ext>
            </a:extLst>
          </p:cNvPr>
          <p:cNvSpPr txBox="1"/>
          <p:nvPr/>
        </p:nvSpPr>
        <p:spPr>
          <a:xfrm>
            <a:off x="4918628" y="6218236"/>
            <a:ext cx="3097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.1: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Evacuation</a:t>
            </a:r>
            <a:r>
              <a:rPr lang="en-IN" sz="1600" dirty="0"/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</a:p>
        </p:txBody>
      </p:sp>
    </p:spTree>
    <p:extLst>
      <p:ext uri="{BB962C8B-B14F-4D97-AF65-F5344CB8AC3E}">
        <p14:creationId xmlns:p14="http://schemas.microsoft.com/office/powerpoint/2010/main" val="2462297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2CDCD-279D-F82D-22A7-E77FDC75C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348E93D4-ED89-F6B9-F146-E7C7509D1489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4329DE8-BC52-669D-A217-B4BB1CCB64B5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4C09E9-7375-E82D-AAB4-E5DF18666AA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12E11C-CE61-80B1-1111-DB3894B8366D}"/>
              </a:ext>
            </a:extLst>
          </p:cNvPr>
          <p:cNvSpPr txBox="1"/>
          <p:nvPr/>
        </p:nvSpPr>
        <p:spPr>
          <a:xfrm>
            <a:off x="1033145" y="1196976"/>
            <a:ext cx="7159625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eaLnBrk="0" hangingPunct="0"/>
            <a:r>
              <a:rPr lang="en-US" dirty="0">
                <a:latin typeface="Times New Roman" panose="02020603050405020304" pitchFamily="18" charset="0"/>
              </a:rPr>
              <a:t>Result &amp; Discussion </a:t>
            </a:r>
            <a:r>
              <a:rPr lang="en-US" altLang="en-US" dirty="0">
                <a:latin typeface="Times New Roman" panose="02020603050405020304" pitchFamily="18" charset="0"/>
              </a:rPr>
              <a:t>of the project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BE9677-0B35-094E-4366-F69E216D6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" t="3709" r="785" b="2501"/>
          <a:stretch>
            <a:fillRect/>
          </a:stretch>
        </p:blipFill>
        <p:spPr>
          <a:xfrm>
            <a:off x="219197" y="690140"/>
            <a:ext cx="11753606" cy="54070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7A3956-569C-90B2-AA70-87714EF6328C}"/>
              </a:ext>
            </a:extLst>
          </p:cNvPr>
          <p:cNvSpPr txBox="1"/>
          <p:nvPr/>
        </p:nvSpPr>
        <p:spPr>
          <a:xfrm>
            <a:off x="4819435" y="6135690"/>
            <a:ext cx="3097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6.2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Evacuation</a:t>
            </a:r>
            <a:r>
              <a:rPr lang="en-IN" sz="1600" dirty="0"/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</a:p>
        </p:txBody>
      </p:sp>
    </p:spTree>
    <p:extLst>
      <p:ext uri="{BB962C8B-B14F-4D97-AF65-F5344CB8AC3E}">
        <p14:creationId xmlns:p14="http://schemas.microsoft.com/office/powerpoint/2010/main" val="404094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AB660-E520-E160-FDC5-0319F33D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0F1CB6FB-3B34-2D9F-DE74-377C4C166075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252FCB-5D82-11F0-417F-74AEA1B72086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A4055A-082E-9604-619C-9A5F1D1655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878A4A-4F9C-16DB-5053-E7E4BD6FF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38" y="729264"/>
            <a:ext cx="11803078" cy="531692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3FB941-F2F6-12CA-27BC-3122C996CF36}"/>
              </a:ext>
            </a:extLst>
          </p:cNvPr>
          <p:cNvSpPr txBox="1"/>
          <p:nvPr/>
        </p:nvSpPr>
        <p:spPr>
          <a:xfrm>
            <a:off x="4819435" y="6135690"/>
            <a:ext cx="3097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</a:p>
        </p:txBody>
      </p:sp>
    </p:spTree>
    <p:extLst>
      <p:ext uri="{BB962C8B-B14F-4D97-AF65-F5344CB8AC3E}">
        <p14:creationId xmlns:p14="http://schemas.microsoft.com/office/powerpoint/2010/main" val="1152462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5C5B-BA41-F218-FE87-DAB82859E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D6D542B9-E729-A24D-2385-60237ADB2CE7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808E188-6982-5937-2268-4E16C01F2F32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D25D4-9966-FFD1-9101-9E4E633A1D9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11EE23-6ADB-74E9-05A7-73504C453AFB}"/>
              </a:ext>
            </a:extLst>
          </p:cNvPr>
          <p:cNvSpPr txBox="1"/>
          <p:nvPr/>
        </p:nvSpPr>
        <p:spPr>
          <a:xfrm>
            <a:off x="4819435" y="6135690"/>
            <a:ext cx="3097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:Alert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4E2FB6-6E51-84CB-843F-2C86142A8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094" y="678238"/>
            <a:ext cx="6704631" cy="539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6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09911" y="1366487"/>
            <a:ext cx="7159625" cy="1877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algn="just" eaLnBrk="0" hangingPunct="0"/>
            <a:r>
              <a:rPr lang="en-US" altLang="en-US" b="1" dirty="0">
                <a:latin typeface="Times New Roman" panose="02020603050405020304" pitchFamily="18" charset="0"/>
              </a:rPr>
              <a:t>Conclusion</a:t>
            </a:r>
          </a:p>
          <a:p>
            <a:pPr lvl="0" algn="just"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 eaLnBrk="0" hangingPunc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presents an integrated AI-GIS framework for flood risk prediction and evacuation in Mumbai. The ensemble model accurately identified flood-prone zones, while risk-aware routing optimized safe evacuation paths. Automated alerts and scalable deployment make the system a proactive and practical tool for urban flood resilience.</a:t>
            </a:r>
            <a:endParaRPr lang="en-US" alt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9910" y="3429000"/>
            <a:ext cx="7159625" cy="163121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algn="just" eaLnBrk="0" hangingPunct="0"/>
            <a:r>
              <a:rPr lang="en-US" altLang="en-US" b="1" dirty="0">
                <a:latin typeface="Times New Roman" panose="02020603050405020304" pitchFamily="18" charset="0"/>
              </a:rPr>
              <a:t>Future Scope</a:t>
            </a:r>
          </a:p>
          <a:p>
            <a:pPr lvl="0" algn="just" eaLnBrk="0" hangingPunct="0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 eaLnBrk="0" hangingPunc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enhanced with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real-time water sensors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 data integration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higher accuracy. Collaboration with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 authorities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enable large-scale deployment across wards. The framework is scalable 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flood-prone Indian cities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nationwide disaster preparedness.</a:t>
            </a:r>
            <a:endParaRPr lang="en-US" alt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091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 / Presentation / Project Competition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9" name="TextBox 7"/>
          <p:cNvSpPr txBox="1"/>
          <p:nvPr/>
        </p:nvSpPr>
        <p:spPr>
          <a:xfrm>
            <a:off x="575945" y="1395413"/>
            <a:ext cx="11219815" cy="36009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Submitted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HYDRO INTERNATIONAL 2025 30th International Conference, Nit Rourkela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Under Review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2nd International Conference on Pioneering Developments in Computer Science and Digital Technologies (IC²SDT 2025), NIT Delhi.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Under Review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4th International Conference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onParadigm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Shifts in Communication, Embedded Systems, Machine Learning and Signal Processing (PCEMS 2025)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Under Review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304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14985" y="1389986"/>
            <a:ext cx="111452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(2011). Feedback and optimal sensitivity: Model reference transformations, multiplicative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seminorms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approximate inverses.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Automatic Control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26(2): 301–320.</a:t>
            </a:r>
          </a:p>
        </p:txBody>
      </p:sp>
      <p:sp>
        <p:nvSpPr>
          <p:cNvPr id="3" name="Rectangle 2"/>
          <p:cNvSpPr/>
          <p:nvPr/>
        </p:nvSpPr>
        <p:spPr>
          <a:xfrm>
            <a:off x="514984" y="2617262"/>
            <a:ext cx="10244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Text books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Myers, D. G. (2007). </a:t>
            </a:r>
            <a:r>
              <a:rPr lang="en-IN" i="1" dirty="0">
                <a:latin typeface="Times New Roman" panose="02020603050405020304" pitchFamily="18" charset="0"/>
              </a:rPr>
              <a:t>Psychology </a:t>
            </a:r>
            <a:r>
              <a:rPr lang="en-IN" dirty="0">
                <a:latin typeface="Times New Roman" panose="02020603050405020304" pitchFamily="18" charset="0"/>
              </a:rPr>
              <a:t>(1st Canadian ed.). Worth: New York.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14984" y="3581108"/>
            <a:ext cx="112655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Conference proceedings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Payne, D.B. and </a:t>
            </a:r>
            <a:r>
              <a:rPr lang="en-IN" dirty="0" err="1">
                <a:latin typeface="Times New Roman" panose="02020603050405020304" pitchFamily="18" charset="0"/>
              </a:rPr>
              <a:t>Gunhold</a:t>
            </a:r>
            <a:r>
              <a:rPr lang="en-IN" dirty="0">
                <a:latin typeface="Times New Roman" panose="02020603050405020304" pitchFamily="18" charset="0"/>
              </a:rPr>
              <a:t>, H.G. (1986). Digital sundials and broadband technology, In </a:t>
            </a:r>
            <a:r>
              <a:rPr lang="en-IN" i="1" dirty="0">
                <a:latin typeface="Times New Roman" panose="02020603050405020304" pitchFamily="18" charset="0"/>
              </a:rPr>
              <a:t>Proc. IOOC-ECOC, </a:t>
            </a:r>
            <a:r>
              <a:rPr lang="en-IN" dirty="0">
                <a:latin typeface="Times New Roman" panose="02020603050405020304" pitchFamily="18" charset="0"/>
              </a:rPr>
              <a:t>1986, pp. 557-998.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514984" y="4819968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Reports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Milton, M and Robert, L. (2004). Atmospheric carbon emission through genetic algorithm, </a:t>
            </a:r>
            <a:r>
              <a:rPr lang="en-IN" i="1" dirty="0">
                <a:latin typeface="Times New Roman" panose="02020603050405020304" pitchFamily="18" charset="0"/>
              </a:rPr>
              <a:t>Environment and Technical Report No.3.</a:t>
            </a:r>
            <a:r>
              <a:rPr lang="en-IN" dirty="0">
                <a:latin typeface="Times New Roman" panose="02020603050405020304" pitchFamily="18" charset="0"/>
              </a:rPr>
              <a:t>, Indian Meteorological Department., New Delhi.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982" y="1393190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Online journals with a DOI (Digital Object Identifier)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Krebs, D.L. and Denton, K. (2006). Explanatory limitations of cognitive developmental approaches to morality. </a:t>
            </a:r>
            <a:r>
              <a:rPr lang="en-IN" i="1" dirty="0">
                <a:latin typeface="Times New Roman" panose="02020603050405020304" pitchFamily="18" charset="0"/>
              </a:rPr>
              <a:t>Psychological Review, </a:t>
            </a:r>
            <a:r>
              <a:rPr lang="en-IN" dirty="0">
                <a:latin typeface="Times New Roman" panose="02020603050405020304" pitchFamily="18" charset="0"/>
              </a:rPr>
              <a:t>113(3): 672- 675. </a:t>
            </a:r>
            <a:r>
              <a:rPr lang="en-IN" dirty="0" err="1">
                <a:latin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</a:rPr>
              <a:t>: 10.1037/0033-295X.113.3.672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14982" y="2719984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journals without a DOI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Vicki, G.T.,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Thomae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, M., Cullen, A. and Fernandez, H. (2007).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Modeling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 the hydrological impact on Tropical Forests.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Forest Ecology,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13(10): 122-132. Retrieved from </a:t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http://www.uiowa.edu/~grpproc/crisp/crisp.html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14981" y="4025525"/>
            <a:ext cx="114636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abstracts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Perilloux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, C. and Buss, D.M. (2008). Human relationships: Costs experienced and coping strategies deployed.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Evolutionary Psychology,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6(1): 164-181. Abstract retrieved from </a:t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http://www.epjournal.net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69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14984" y="1393190"/>
            <a:ext cx="111740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books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Perfect, T.J. and Schwartz, B. L. (Eds.) (2002).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Applied metacognition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. Retrieved from </a:t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http://www.questia.com/read/107598848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(--If DOI is available, use the DOI instead of a URL)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14984" y="2508290"/>
            <a:ext cx="1117409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Chapters from a book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Krebs, D.L. and Denton, K. (1997). Social illusions and self deception: The evolution of biases in person perception. In J. A. Simpson &amp; D. T. </a:t>
            </a:r>
            <a:r>
              <a:rPr lang="en-IN" dirty="0" err="1">
                <a:latin typeface="Times New Roman" panose="02020603050405020304" pitchFamily="18" charset="0"/>
              </a:rPr>
              <a:t>Kenrick</a:t>
            </a:r>
            <a:r>
              <a:rPr lang="en-IN" dirty="0">
                <a:latin typeface="Times New Roman" panose="02020603050405020304" pitchFamily="18" charset="0"/>
              </a:rPr>
              <a:t> (Eds.), </a:t>
            </a:r>
            <a:r>
              <a:rPr lang="en-IN" i="1" dirty="0">
                <a:latin typeface="Times New Roman" panose="02020603050405020304" pitchFamily="18" charset="0"/>
              </a:rPr>
              <a:t>Evolutionary social psychology </a:t>
            </a:r>
            <a:r>
              <a:rPr lang="en-IN" dirty="0">
                <a:latin typeface="Times New Roman" panose="02020603050405020304" pitchFamily="18" charset="0"/>
              </a:rPr>
              <a:t>(pp.21-48). Hillsdale, NJ: Erlbaum.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14984" y="3987423"/>
            <a:ext cx="112807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Books in print form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Snyder, C.R., Higgins, R.L. and </a:t>
            </a:r>
            <a:r>
              <a:rPr lang="en-IN" dirty="0" err="1">
                <a:latin typeface="Times New Roman" panose="02020603050405020304" pitchFamily="18" charset="0"/>
              </a:rPr>
              <a:t>Stucky</a:t>
            </a:r>
            <a:r>
              <a:rPr lang="en-IN" dirty="0">
                <a:latin typeface="Times New Roman" panose="02020603050405020304" pitchFamily="18" charset="0"/>
              </a:rPr>
              <a:t>, R.J. (Eds.). (1983). </a:t>
            </a:r>
            <a:r>
              <a:rPr lang="en-IN" i="1" dirty="0">
                <a:latin typeface="Times New Roman" panose="02020603050405020304" pitchFamily="18" charset="0"/>
              </a:rPr>
              <a:t>Excuses: Masquerades in search of grace</a:t>
            </a:r>
            <a:r>
              <a:rPr lang="en-IN" dirty="0">
                <a:latin typeface="Times New Roman" panose="02020603050405020304" pitchFamily="18" charset="0"/>
              </a:rPr>
              <a:t>. New York, NY: John Wiley &amp; Sons.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14983" y="5046266"/>
            <a:ext cx="111740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Dissertations and Thesis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Mack, S. (2000). “Desperate Optimism” M.S. Thesis, University of Calgary, Canada.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13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66888" y="1978025"/>
            <a:ext cx="8207375" cy="1862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0" b="1" i="1" u="none" strike="noStrike" kern="1200" cap="none" spc="0" normalizeH="0" baseline="0" noProof="0" dirty="0">
                <a:ln w="3175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Bodoni MT" panose="02070603080606020203" pitchFamily="18" charset="0"/>
                <a:ea typeface="+mn-ea"/>
                <a:cs typeface="+mn-cs"/>
              </a:rPr>
              <a:t>Thank you !</a:t>
            </a:r>
            <a:endParaRPr kumimoji="0" lang="en-IN" sz="11500" b="1" i="1" u="none" strike="noStrike" kern="1200" cap="none" spc="0" normalizeH="0" baseline="0" noProof="0" dirty="0">
              <a:ln w="3175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Bodoni MT" panose="02070603080606020203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045335" y="6261102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8" y="5610859"/>
            <a:ext cx="1874520" cy="9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:\Users\Roshan_Dir_SP\AppData\Local\Packages\Microsoft.Windows.Photos_8wekyb3d8bbwe\TempState\ShareServiceTempFolder\GHRCEM Nagpur.jpe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280" y="17464"/>
            <a:ext cx="2331720" cy="150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045335" y="6261102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8" y="5610859"/>
            <a:ext cx="1874520" cy="9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:\Users\Roshan_Dir_SP\AppData\Local\Packages\Microsoft.Windows.Photos_8wekyb3d8bbwe\TempState\ShareServiceTempFolder\GHRCEM Nagpur.jpe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280" y="17464"/>
            <a:ext cx="2331720" cy="150653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359727" y="843200"/>
            <a:ext cx="10666413" cy="4546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eaLnBrk="0" hangingPunct="0">
              <a:buClrTx/>
              <a:buSzTx/>
              <a:buFontTx/>
              <a:buNone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</a:t>
            </a:r>
            <a:r>
              <a:rPr kumimoji="0" lang="en-US" b="1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NOTE : Kindly Delete this slide at the end   </a:t>
            </a: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</a:t>
            </a:r>
          </a:p>
          <a:p>
            <a:pPr marR="0" algn="ctr" defTabSz="914400" eaLnBrk="0" hangingPunct="0">
              <a:buClrTx/>
              <a:buSzTx/>
              <a:buFontTx/>
              <a:buNone/>
              <a:defRPr/>
            </a:pPr>
            <a:endParaRPr kumimoji="0" lang="en-US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Guidelines: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 main Head points(index points) should be written in Times new roman with font size 31.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 the Heading should be written in Times new roman with font size 18 and BOLD. 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 the text in the body should be written in Times new roman with font size 16 only with </a:t>
            </a:r>
            <a:r>
              <a:rPr kumimoji="0" lang="en-US" kern="1200" cap="none" spc="0" normalizeH="0" baseline="0" noProof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black</a:t>
            </a: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font colour.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All Figures should be illustrated with </a:t>
            </a:r>
            <a:r>
              <a:rPr kumimoji="0" lang="en-US" i="1" kern="1200" cap="none" spc="0" normalizeH="0" baseline="0" noProof="0" dirty="0" err="1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Itallic</a:t>
            </a: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Times new roman with font size 16 only with </a:t>
            </a:r>
            <a:r>
              <a:rPr kumimoji="0" lang="en-US" kern="1200" cap="none" spc="0" normalizeH="0" baseline="0" noProof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black</a:t>
            </a: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font colour 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endParaRPr kumimoji="0" lang="en-US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 plan provided is sample , you all need to correct according to your project.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endParaRPr kumimoji="0" lang="en-US" sz="900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Proposed Methodology slide should include Block diagram and flow chart.</a:t>
            </a: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endParaRPr kumimoji="0" lang="en-US" sz="1050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r>
              <a:rPr kumimoji="0" 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 done slide should include detail circuit diagram(for hardware based project) and snapshot of intermediate results.</a:t>
            </a:r>
            <a:endParaRPr kumimoji="0" lang="en-IN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indent="-342900" defTabSz="914400" eaLnBrk="0" hangingPunct="0">
              <a:buClrTx/>
              <a:buSzTx/>
              <a:buFontTx/>
              <a:buAutoNum type="arabicParenR"/>
              <a:defRPr/>
            </a:pPr>
            <a:endParaRPr kumimoji="0" lang="en-IN" kern="1200" cap="none" spc="0" normalizeH="0" baseline="0" noProof="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78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2419</Words>
  <Application>Microsoft Office PowerPoint</Application>
  <PresentationFormat>Widescreen</PresentationFormat>
  <Paragraphs>259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Arial Black</vt:lpstr>
      <vt:lpstr>Bodoni MT</vt:lpstr>
      <vt:lpstr>Calibri</vt:lpstr>
      <vt:lpstr>Calibri Light</vt:lpstr>
      <vt:lpstr>Castellar</vt:lpstr>
      <vt:lpstr>Times New Roman</vt:lpstr>
      <vt:lpstr>Wingdings 2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Alfiyanaj Qureshi</cp:lastModifiedBy>
  <cp:revision>151</cp:revision>
  <cp:lastPrinted>2018-01-20T12:20:00Z</cp:lastPrinted>
  <dcterms:created xsi:type="dcterms:W3CDTF">2018-01-20T09:03:00Z</dcterms:created>
  <dcterms:modified xsi:type="dcterms:W3CDTF">2025-10-02T07:11:51Z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1033-11.2.0.10258</vt:lpwstr>
  </property>
  <property fmtid="{D5CDD505-2E9C-101B-9397-08002B2CF9AE}" pid="3" name="ICV">
    <vt:lpwstr>E8D44B7623514F2E894E82A1D1A1801D</vt:lpwstr>
  </property>
</Properties>
</file>